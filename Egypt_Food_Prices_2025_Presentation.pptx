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متوسط التغير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08-4274-A963-F6F954538652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08-4274-A963-F6F954538652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08-4274-A963-F6F954538652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08-4274-A963-F6F954538652}"/>
              </c:ext>
            </c:extLst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108-4274-A963-F6F954538652}"/>
              </c:ext>
            </c:extLst>
          </c:dPt>
          <c:dPt>
            <c:idx val="5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108-4274-A963-F6F954538652}"/>
              </c:ext>
            </c:extLst>
          </c:dPt>
          <c:dPt>
            <c:idx val="6"/>
            <c:invertIfNegative val="0"/>
            <c:bubble3D val="0"/>
            <c:spPr>
              <a:solidFill>
                <a:srgbClr val="1B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108-4274-A963-F6F9545386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الخضر والفاكهة</c:v>
                </c:pt>
                <c:pt idx="1">
                  <c:v>الطيور والبيض</c:v>
                </c:pt>
                <c:pt idx="2">
                  <c:v>الأسماك</c:v>
                </c:pt>
                <c:pt idx="3">
                  <c:v>البقالة</c:v>
                </c:pt>
                <c:pt idx="4">
                  <c:v>اللحوم</c:v>
                </c:pt>
                <c:pt idx="5">
                  <c:v>الألبان</c:v>
                </c:pt>
                <c:pt idx="6">
                  <c:v>الحبوب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22.9</c:v>
                </c:pt>
                <c:pt idx="1">
                  <c:v>9.8000000000000007</c:v>
                </c:pt>
                <c:pt idx="2">
                  <c:v>6.4</c:v>
                </c:pt>
                <c:pt idx="3">
                  <c:v>2.2999999999999998</c:v>
                </c:pt>
                <c:pt idx="4">
                  <c:v>1.5</c:v>
                </c:pt>
                <c:pt idx="5">
                  <c:v>-0.1</c:v>
                </c:pt>
                <c:pt idx="6">
                  <c:v>-4.5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108-4274-A963-F6F9545386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الخضر والفاكهة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14.2</c:v>
                </c:pt>
                <c:pt idx="1">
                  <c:v>17.8</c:v>
                </c:pt>
                <c:pt idx="2">
                  <c:v>18.5</c:v>
                </c:pt>
                <c:pt idx="3">
                  <c:v>21.1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242-49D5-8ADE-CB0B3F977E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الحبوب والبقول</c:v>
                </c:pt>
              </c:strCache>
            </c:strRef>
          </c:tx>
          <c:spPr>
            <a:ln w="31750" cap="flat">
              <a:solidFill>
                <a:srgbClr val="1B2B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B5E"/>
              </a:solidFill>
              <a:ln w="9525" cap="flat">
                <a:solidFill>
                  <a:srgbClr val="1B2B5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6.2</c:v>
                </c:pt>
                <c:pt idx="1">
                  <c:v>5.9</c:v>
                </c:pt>
                <c:pt idx="2">
                  <c:v>4.0999999999999996</c:v>
                </c:pt>
                <c:pt idx="3">
                  <c:v>3.8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242-49D5-8ADE-CB0B3F977E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اللحوم</c:v>
                </c:pt>
              </c:strCache>
            </c:strRef>
          </c:tx>
          <c:spPr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2.8</c:v>
                </c:pt>
                <c:pt idx="1">
                  <c:v>3.5</c:v>
                </c:pt>
                <c:pt idx="2">
                  <c:v>2.1</c:v>
                </c:pt>
                <c:pt idx="3">
                  <c:v>2.2000000000000002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242-49D5-8ADE-CB0B3F977E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تصنيف الاستقرار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AC7-435E-A14A-D0A12242A7C2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C7-435E-A14A-D0A12242A7C2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C7-435E-A14A-D0A12242A7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C7-435E-A14A-D0A12242A7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C7-435E-A14A-D0A12242A7C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C7-435E-A14A-D0A12242A7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مستقر (&lt; 5%)</c:v>
                </c:pt>
                <c:pt idx="1">
                  <c:v>متوسط (5–20%)</c:v>
                </c:pt>
                <c:pt idx="2">
                  <c:v>مرتفع (&gt; 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18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AC7-435E-A14A-D0A12242A7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502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الأولى: غلاف المشروع. تُقدَّم هنا هوية المشروع وعنوانه الرئيسي مع ذكر مصدر البيانات والأدوات المستخدمة.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الملخص التنفيذي: يوضح هذا الشريحة الهدف الرئيسي من المشروع والمنهجية المتبعة والمخرجات النهائية. يمكن الإشارة إلى أن المشروع يخدم شرائح متعددة من المستخدمين.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لماذا هذا المشروع: تأكيد على أهمية الموضوع من منظور اجتماعي واقتصادي، وإبراز القيمة التحليلية للمشروع في تبسيط المعلومات لعموم الناس.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مصدر البيانات: يُشرح هنا سبب اختيار CAPMAS كمصدر رسمي موثوق، وأهمية ذلك في تعزيز مصداقية التحليل أمام أي لجنة أو مدير.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مسار العمل: يُوضح هذا الشريحة المسار الكامل من البيانات الخام إلى الرؤى النهائية. كل مرحلة موثقة بملف إخراج مستقل لضمان الشفافية.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تحدي البيانات: يُبرز هذا الشريحة الفجوة بين البيانات الخام والبيانات المحللة، ويُوضح الإضافة الحقيقية للمشروع في التغلب على هذا التحدي.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المرحلة الأولى: تصدير PDF إلى Excel. يمثل هذا أول إنجاز في المسار، إذ يُحوَّل الملف الرسمي غير القابل للتحليل إلى جدول Excel ابتدائي قابل للتعامل.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المرحلة الثانية: Power Query. أداة قوية مدمجة في Excel لتنظيف البيانات تلقائياً بخطوات قابلة للتعديل والتكرار دون الحاجة لكود برمجي.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المرحلة الثالثة: Python. هنا يتم التنظيف العميق الذي لا يمكن Power Query القيام به بنفس الدقة، خاصة معالجة القيم المفقودة وإنشاء الأعمدة المحسوبة.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البيانات النهائية: يُقدَّم هنا شرح لكل عمود في الجدول النهائي مع مثال توضيحي. هذا الجدول هو المدخل الرئيسي لكل الجداول المحورية ولوحة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الجداول المحورية: مرحلة الاستكشاف التحليلي في Excel. تُستخدم للإجابة السريعة على الأسئلة التحليلية قبل بناء لوحة Power BI الاحترافية.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1: الخضر والفاكهة تُسجل أعلى نسبة تضخم (22.9%) بينما الحبوب والبقول تشهد انخفاضاً (-4.5%). مرحلة الجملة أعلى الأسعار نمواً.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2: البرتقال البلدي سجل أعلى ارتفاع (+117.7%) بينما الحلبة سجلت أكبر انخفاض (-49.9%). هذه النتائج مثيرة للاهتمام لأنها تعكس تأثيرات موسمية وعرض وطلب مختلفة.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3: التحليل الربعي يكشف أن Q4 هو الأعلى في المتوسط. الخضر والفاكهة تُظهر أعلى تذبذب موسمي بين الأرباع.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4: أكثر من 54% من المنتجات في المرحلة منتج تمتع باستقرار نسبي في الأسعار، بينما 27% سجلت ارتفاعاً يستوجب المتابعة.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مرحلة Power BI: هذه المرحلة تمثل الناتج الاحترافي النهائي للمشروع. يمكن هنا عرض لقطة شاشة من لوحة Power BI الفعلية إذا كانت متاحة.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تصميم اللوحة: يُعرض هنا مخطط تصوري لتوزيع عناصر لوحة Power BI. الألوان المستخدمة: كحلي للترويسات، أزرق للمؤشرات، تيل للارتفاعات، أحمر للانخفاضات.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الرؤى الرئيسية: هذه هي أبرز النتائج التحليلية للمشروع. كل بطاقة تُجيب على سؤال تحليلي حقيقي مستخلص من البيانات.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الأدوات المستخدمة: كل أداة لها دور محدد في مسار المشروع. هذا الشريحة مهم لإظهار عمق المهارات التقنية لدى مقدم المشروع.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الخلاصة: يُلخَّص المشروع بجملة واحدة تعبر عن جوهره: تحويل البيانات الخام إلى رؤى واضحة وقابلة للعمل. شكراً للجمهور على الاستماع.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8595360" cy="51435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3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2743200"/>
            <a:ext cx="2286000" cy="2286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أسعار الغذاء في مصر 2025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CAPMAS Data to Interactive Excel &amp; Power BI Dashboards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80467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تحليل البيانات  |  2025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26080"/>
            <a:ext cx="320040" cy="32004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926080"/>
            <a:ext cx="320040" cy="32004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2926080"/>
            <a:ext cx="320040" cy="32004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92608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152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Project  •  Egypt Food Prices Analysis 2025  •  Source: CAPMAS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التنفيذي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743200" cy="73152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325880"/>
            <a:ext cx="548640" cy="548640"/>
          </a:xfrm>
          <a:prstGeom prst="ellipse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39903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29768" y="242316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تغيرات أسعار الغذاء في مصر خلال عام 2025 مقارنةً بعام 2024 باستخدام بيانات رسمية من الجهاز المركزي للتعبئة العامة والإحصاء (CAPMAS).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11887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97680" y="13258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39903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المنهجية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310128" y="242316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بيانات PDF الأصلية إلى بيانات منظفة ومنظمة باستخدام Excel وPower Query وPython، ثم بناء لوحات تحليلية تفاعلية.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80760" y="11887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080760" y="118872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178040" y="13258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39903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722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190488" y="242316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بيانات Excel تحوي Pivot Tables تفاعلية، ولوحة Power BI متكاملة مع KPI Cards وSlicers ومخططات بيانية متنوعة.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1B2B5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097280" y="45902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657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828800" y="4590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بيانات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200400" y="45902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3931920" y="4590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مراحل تسعير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303520" y="45902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035040" y="4590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مجموعات غذائية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406640" y="45902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8138160" y="4590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أرباع سنوية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هذا المشروع؟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804672"/>
          </a:xfrm>
          <a:prstGeom prst="rect">
            <a:avLst/>
          </a:prstGeom>
          <a:solidFill>
            <a:srgbClr val="1B2B5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320040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07008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أسعار الغذاء تمسّ كل أسرة مصرية — الفهم الصحيح يصنع الفارق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" y="243230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487168"/>
            <a:ext cx="393192" cy="3931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3272" y="21579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المباشر على المستهلك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33272" y="252374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ارتفاع الأسعار يؤثر على القرارات الشرائية اليومية لجميع المصريين بغض النظر عن دخلهم.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08483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73168" y="243230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487168"/>
            <a:ext cx="393192" cy="3931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76672" y="21579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تبسيط البيانات المعقدة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376672" y="252374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البيانات الرسمية الكثيفة إلى رسوم بيانية تفاعلية يفهمها غير المتخصصين بسهولة.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0040" y="345643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29768" y="3803904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858768"/>
            <a:ext cx="393192" cy="3931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33272" y="3529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اتخاذ القرار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033272" y="389534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تمكين الطلاب والمحللين وصانعي القرار من فهم التضخم والتغيرات الموسمية بدقة وموضوعية.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345643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73168" y="3803904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858768"/>
            <a:ext cx="393192" cy="3931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76672" y="3529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التضخم الغذائي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376672" y="389534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2024 بـ 2025 عبر 4 مراحل تسعير (منتج / جملة / حضر / ريف) للكشف عن الأنماط الحقيقية.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البيانات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— CAPMAS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914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CAPMAS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الجهاز المركزي للتعبئة العامة والإحصاء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3749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94436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9077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رسمي حكومي موثوق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32841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3291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شاملة لأسعار المنتجات الغذائية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7124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" y="3675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جغرافية: حضر وريف على مستوى الجمهورية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409651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40599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مراحل تسعير: منتج، جملة، حضر، ريف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44805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7200" y="44439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تشمل 8 مجموعات غذائية رئيسية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663440" y="1188720"/>
            <a:ext cx="4160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4663440" y="1188720"/>
            <a:ext cx="41605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4754880" y="1325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المصدر الرسمي؟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754880" y="17373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 على CAPMAS يضمن موثوقية النتائج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ودقة الأرقام وقابليتها للمقارنة الزمنية والجغرافية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663440" y="288036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663440" y="2880360"/>
            <a:ext cx="416052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4754880" y="30175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الملف الأصلي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75488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الصيغة الأصلية: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132320" y="34015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75488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طبيعة البيانات: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13232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جداول بيانية رقمية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75488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الفترة الزمنية: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132320" y="40050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– 2025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754880" y="4306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السجلات النهائية: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132320" y="43068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657 سجل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سير العمل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Workflow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80160"/>
            <a:ext cx="1078992" cy="2194560"/>
          </a:xfrm>
          <a:prstGeom prst="rect">
            <a:avLst/>
          </a:prstGeom>
          <a:solidFill>
            <a:srgbClr val="1B2B5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37160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3852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3192" y="25146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CAPMAS PDF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3192" y="299008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 الأصلي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435608" y="2286000"/>
            <a:ext cx="457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89888" y="21488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81328" y="1280160"/>
            <a:ext cx="1078992" cy="219456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792224" y="137160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79222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193852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27048" y="25146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Export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527048" y="299008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البيانات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569464" y="2286000"/>
            <a:ext cx="457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2523744" y="21488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2615184" y="1280160"/>
            <a:ext cx="1078992" cy="2194560"/>
          </a:xfrm>
          <a:prstGeom prst="rect">
            <a:avLst/>
          </a:prstGeom>
          <a:solidFill>
            <a:srgbClr val="0E74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926080" y="137160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926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193852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660904" y="25146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660904" y="299008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التنظيف الأولي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703320" y="2286000"/>
            <a:ext cx="457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3657600" y="21488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3749040" y="1280160"/>
            <a:ext cx="1078992" cy="21945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059936" y="137160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405993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936" y="1938528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794760" y="25146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3794760" y="299008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متقدم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837176" y="2286000"/>
            <a:ext cx="457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4791456" y="21488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Shape 32"/>
          <p:cNvSpPr/>
          <p:nvPr/>
        </p:nvSpPr>
        <p:spPr>
          <a:xfrm>
            <a:off x="4882896" y="1280160"/>
            <a:ext cx="1078992" cy="219456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193792" y="137160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519379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1938528"/>
            <a:ext cx="457200" cy="4572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928616" y="25146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Tables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4928616" y="299008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الجداول المحورية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971032" y="2286000"/>
            <a:ext cx="457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5925312" y="21488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46" name="Shape 39"/>
          <p:cNvSpPr/>
          <p:nvPr/>
        </p:nvSpPr>
        <p:spPr>
          <a:xfrm>
            <a:off x="6016752" y="1280160"/>
            <a:ext cx="1078992" cy="219456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6327648" y="137160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632764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1938528"/>
            <a:ext cx="457200" cy="4572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062472" y="25146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6062472" y="299008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تفاعلية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7104888" y="2286000"/>
            <a:ext cx="457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5"/>
          <p:cNvSpPr/>
          <p:nvPr/>
        </p:nvSpPr>
        <p:spPr>
          <a:xfrm>
            <a:off x="7059168" y="21488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54" name="Shape 46"/>
          <p:cNvSpPr/>
          <p:nvPr/>
        </p:nvSpPr>
        <p:spPr>
          <a:xfrm>
            <a:off x="7150608" y="1280160"/>
            <a:ext cx="1078992" cy="219456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7"/>
          <p:cNvSpPr/>
          <p:nvPr/>
        </p:nvSpPr>
        <p:spPr>
          <a:xfrm>
            <a:off x="7461504" y="137160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746150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1504" y="1938528"/>
            <a:ext cx="457200" cy="45720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7196328" y="251460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100" dirty="0"/>
          </a:p>
        </p:txBody>
      </p:sp>
      <p:sp>
        <p:nvSpPr>
          <p:cNvPr id="59" name="Text 50"/>
          <p:cNvSpPr/>
          <p:nvPr/>
        </p:nvSpPr>
        <p:spPr>
          <a:xfrm>
            <a:off x="7196328" y="2990088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CC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رؤى قابلة للعمل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2"/>
          <p:cNvSpPr/>
          <p:nvPr/>
        </p:nvSpPr>
        <p:spPr>
          <a:xfrm>
            <a:off x="320040" y="3749040"/>
            <a:ext cx="32004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3"/>
          <p:cNvSpPr/>
          <p:nvPr/>
        </p:nvSpPr>
        <p:spPr>
          <a:xfrm>
            <a:off x="731520" y="3767328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مرحلة من مراحل المسار تُنتج ملف إخراج منفصل يمكن التحقق منه ومراجعته باستقلالية تامة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 البيانات الأصلية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Data Challenge — PDF Format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التحديات الرئيسية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24528" y="1892808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محاصرة داخل ملف PDF غير قابل للتحليل المباشر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24528" y="2368296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جداول مدمجة وخلايا مدمجة تعطل عملية الاستخراج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24528" y="2843784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ترويسات متداخلة وغير متسقة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24528" y="3319272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552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بيانات مختلطة (نص، أرقام، رموز)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24528" y="3794760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 مفقودة للمنتجات الموسمية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24528" y="4270248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تنسيقات تاريخ وأسماء منتجات غير موحدة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118872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160520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3258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المعالجة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171907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PDF يحوي جداول مضغوطة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قابل للفلترة أو التحليل الآلي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يستلزم تدخلاً يدوياً مكثفاً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926080"/>
            <a:ext cx="416052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063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المعالجة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345643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Excel منظم بـ 657 سجل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 بـ 13 عموداً تحليلياً</a:t>
            </a:r>
            <a:endParaRPr lang="en-US" sz="1200" dirty="0"/>
          </a:p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 للمحاور والمخططات التفاعلية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الأولى — تصدير PDF إلى Excel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PDF Export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05840" cy="1005840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463040" y="1188720"/>
            <a:ext cx="7360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63040" y="1188720"/>
            <a:ext cx="736092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1298448"/>
            <a:ext cx="7178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البيانات من ملف PDF إلى Excel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70992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تمثل هذه الخطوة أول تحويل منظم للبيانات الرسمية من صيغتها الأصلية إلى بيئة قابلة للتحليل الرقمي.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2743200" cy="73152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5786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استخراج الجداول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07208" y="3081528"/>
            <a:ext cx="137160" cy="137160"/>
          </a:xfrm>
          <a:prstGeom prst="ellipse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الجداول المضمنة في PDF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07208" y="3584448"/>
            <a:ext cx="137160" cy="137160"/>
          </a:xfrm>
          <a:prstGeom prst="ellipse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حدود كل جدول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07208" y="4087368"/>
            <a:ext cx="137160" cy="137160"/>
          </a:xfrm>
          <a:prstGeom prst="ellipse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40233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الخلايا المدمجة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18688" y="24688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18688" y="246888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0128" y="25786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 المُنتج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05856" y="3081528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0128" y="30175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 Prices Analysis_.xlsx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05856" y="3584448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10128" y="35204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نسخة منظمة من البيانات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05856" y="4087368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10128" y="40233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للمعالجة اللاحقة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17336" y="24688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17336" y="246888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08776" y="25786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التحديات المكتشفة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04504" y="308152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08776" y="30175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خلايا مدمجة Merged Cells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04504" y="358444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08776" y="35204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ترويسات متعددة المستويات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604504" y="408736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08776" y="40233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صفوف فارغة وبيانات مكررة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الثانية — التنظيف بـ Power Query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Power Query Cleaning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05840" cy="1005840"/>
          </a:xfrm>
          <a:prstGeom prst="ellipse">
            <a:avLst/>
          </a:prstGeom>
          <a:solidFill>
            <a:srgbClr val="0E74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463040" y="1188720"/>
            <a:ext cx="7360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63040" y="1188720"/>
            <a:ext cx="7360920" cy="7315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1298448"/>
            <a:ext cx="7178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البيانات الأولي باستخدام Power Query في Excel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70992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 هو محرك تحويل البيانات المدمج في Excel ويتيح التنظيف التلقائي القابل للتكرار.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4160520" cy="6400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77640" y="2743200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2816352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1148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إزالة الصفوف الزائدة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1480" y="29443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حذف الصفوف الفارغة والرؤوس المكررة وبيانات التذييل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24688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63440" y="2468880"/>
            <a:ext cx="4160520" cy="6400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321040" y="2743200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816352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5488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تصحيح أنواع البيانات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754880" y="29443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الأرقام النصية إلى قيم رقمية قابلة للحساب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20040" y="379476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20040" y="3794760"/>
            <a:ext cx="4160520" cy="6400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3977640" y="4069080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792" y="4142232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1148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تسمية الأعمدة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11480" y="4270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توحيد أسماء الأعمدة لتتوافق مع معايير التحليل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4663440" y="379476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663440" y="3794760"/>
            <a:ext cx="4160520" cy="6400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8321040" y="4069080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142232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75488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الجدول النهائي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4754880" y="4270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البيانات في هيكل جدولي واضح جاهز للخطوة التالية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الثالثة — التنظيف بـ Python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Python Advanced Cleaning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05840" cy="100584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463040" y="1188720"/>
            <a:ext cx="7360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63040" y="1188720"/>
            <a:ext cx="73609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1298448"/>
            <a:ext cx="7178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متقدم وأتمتة بلغة Python — الملف النهائي: Egypt_Food_Prices_2025_Clean.xlsx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70992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تُتيح معالجة البيانات بدقة أعلى وأتمتة المهام المتكررة باستخدام مكتبات pandas وopenpyxl.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466344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578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Python الرئيسية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توحيد أسماء المنتجات وإزالة الأحرف غير المرئية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401568"/>
            <a:ext cx="914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35584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معالجة القيم المفقودة بالاستيفاء الخطي (Linear Interpolation)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785616"/>
            <a:ext cx="914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73989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أعمدة محسوبة: Change_Pct، Seasonal_Flag، Quarters_Present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4169664"/>
            <a:ext cx="914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12394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صحة القيم الرقمية ومعالجة القيم الشاذة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4553712"/>
            <a:ext cx="914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50799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تصنيف موسمي: Year-Round / Seasonal (1Q–3Q)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493776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8920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المخرج النهائي بـ 13 عموداً تحليلياً موثقاً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66360" y="24688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166360" y="2468880"/>
            <a:ext cx="36576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2578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إحصاءات الملف النهائي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166360" y="3035808"/>
            <a:ext cx="3657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03920" y="304495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57800" y="30449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السجلات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66360" y="3447288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03920" y="345643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257800" y="34564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 تحليلي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66360" y="3858768"/>
            <a:ext cx="3657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03920" y="38679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257800" y="38679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مراحل تسعير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66360" y="4270248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03920" y="42793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257800" y="42793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مجموعات غذائية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66360" y="4681728"/>
            <a:ext cx="3657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03920" y="469087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257800" y="46908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سنة مقارنة (2024–2025)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 على البيانات النهائية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Dataset: Egypt_Food_Prices_2025_Clean.xlsx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64008" cy="6858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25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المجموعة الغذائية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12618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الخضر والفاكهة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27448" y="1170432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27448" y="1170432"/>
            <a:ext cx="64008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225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Item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المنتج / الصنف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53528" y="12618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برتقال بلدي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29384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1929384"/>
            <a:ext cx="64008" cy="6858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276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التسعير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202082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/ جملة / حضر / ريف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27448" y="1929384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27448" y="1929384"/>
            <a:ext cx="64008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2276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53528" y="202082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كجم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88336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2688336"/>
            <a:ext cx="64008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2024_Avg_EGP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سعر 2024 (جنيه)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277977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50.8 جنيه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27448" y="2688336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27448" y="2688336"/>
            <a:ext cx="64008" cy="6858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64608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2025_Avg_EGP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سعر 2025 (جنيه)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53528" y="277977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 جنيه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447288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040" y="3447288"/>
            <a:ext cx="64008" cy="685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3502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Change_Pct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التغير 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46120" y="35387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‎-33.9%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27448" y="3447288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27448" y="3447288"/>
            <a:ext cx="64008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64608" y="3502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– Q4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64608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أسعار الأرباع الأربعة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53528" y="35387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 / 24.8 / 30.7 / 43.5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206240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0040" y="4206240"/>
            <a:ext cx="64008" cy="68580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261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Seasonal_Flag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 موسمية المنتج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46120" y="4297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Year-Round / Seasonal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27448" y="4206240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27448" y="4206240"/>
            <a:ext cx="64008" cy="6858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64608" y="4261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Quarters_Present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64608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الأرباع المتاحة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653528" y="4297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الجداول المحورية — Excel Pivot Tables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Pivot Tables Analysis Phase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960120"/>
          </a:xfrm>
          <a:prstGeom prst="rect">
            <a:avLst/>
          </a:prstGeom>
          <a:solidFill>
            <a:srgbClr val="1B2B5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320040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محاور تحليلية رئيسية لاستكشاف البيانات وفهم أنماط التسعير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Tables تُجيب على الأسئلة التحليلية بشكل تفاعلي قبل الانتقال إلى Power BI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224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4224528" cy="73152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450592"/>
            <a:ext cx="594360" cy="594360"/>
          </a:xfrm>
          <a:prstGeom prst="ellipse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523744"/>
            <a:ext cx="448056" cy="4480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2377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1: التضخم حسب المجموعة والمرحلة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97280" y="28163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متوسط التغير لكل مجموعة غذائية في كل مرحلة تسعير؟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27448" y="2286000"/>
            <a:ext cx="4224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27448" y="2286000"/>
            <a:ext cx="4224528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18888" y="2450592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23744"/>
            <a:ext cx="448056" cy="4480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04688" y="2377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2: أعلى وأدنى 10 منتجات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504688" y="28163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المنتجات الأكثر ارتفاعاً والأقل ارتفاعاً في الأسعار؟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20040" y="3657600"/>
            <a:ext cx="4224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20040" y="3657600"/>
            <a:ext cx="4224528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11480" y="3822192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895344"/>
            <a:ext cx="448056" cy="4480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3: التحليل الربعي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097280" y="41879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تتغير أسعار الغذاء عبر الأرباع الأربعة Q1–Q4؟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727448" y="3657600"/>
            <a:ext cx="42245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727448" y="3657600"/>
            <a:ext cx="4224528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818888" y="3822192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895344"/>
            <a:ext cx="448056" cy="4480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04688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4: استقرار الأسعار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504688" y="41879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عدد المنتجات المستقرة والمتوسطة والمتقلبة في الأسعار؟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1 — التضخم حسب المجموعة والمرحلة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Price Change % by Food Group × Pricing 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التحليلي: ما متوسط نسبة التغير لكل مجموعة غذائية عبر مراحل التسعير الأربع؟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554480"/>
          <a:ext cx="50292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554480"/>
            <a:ext cx="3291840" cy="33375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77840" y="1554480"/>
            <a:ext cx="3291840" cy="73152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0" y="16642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التغير حسب المرحلة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7840" y="2103120"/>
            <a:ext cx="3291840" cy="5943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69280" y="21762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جملة (Wholesale)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762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577840" y="2788920"/>
            <a:ext cx="32918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69280" y="28620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ريف (Rural)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0" y="28620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577840" y="3474720"/>
            <a:ext cx="3291840" cy="5943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0" y="3547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حضر (Urban)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0" y="3547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577840" y="4160520"/>
            <a:ext cx="32918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9280" y="4233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(Producer)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0" y="42336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تصفية هذا الجدول باستخدام Slicer حسب المرحلة أو المجموعة الغذائية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2 — أعلى وأدنى المنتجات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Highest &amp; Lowest Price Changes (منتج Stage)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التحليلي: ما المنتجات الأكثر ارتفاعاً والأكثر انخفاضاً في الأسعار بين 2024 و2025؟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420624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60020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627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5 منتجات ارتفاعاً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2084832"/>
            <a:ext cx="420624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15968" y="2130552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21305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برتقال بلدي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21305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+117.7%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0040" y="2615184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15968" y="266090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26609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برتقال صيفي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266090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+96.2%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20040" y="3145536"/>
            <a:ext cx="420624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315968" y="3191256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51560" y="31912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بلح زغلول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11480" y="319125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+84.0%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20040" y="3675888"/>
            <a:ext cx="420624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315968" y="3721608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51560" y="37216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مشمش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1480" y="372160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+70.2%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20040" y="4206240"/>
            <a:ext cx="420624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315968" y="425196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51560" y="4251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مانجو زبدية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11480" y="42519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+65.1%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663440" y="1536192"/>
            <a:ext cx="41605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663440" y="1536192"/>
            <a:ext cx="4160520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600200"/>
            <a:ext cx="292608" cy="29260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754880" y="1627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5 منتجات انخفاضاً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4663440" y="2084832"/>
            <a:ext cx="416052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8668512" y="2130552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349240" y="2130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حلبة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754880" y="21305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-49.9%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4663440" y="2615184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8668512" y="2660904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5349240" y="2660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بطاطس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754880" y="266090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-44.8%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4663440" y="3145536"/>
            <a:ext cx="416052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8668512" y="3191256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5349240" y="3191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ثوم بلدي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4754880" y="31912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-33.9%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4663440" y="3675888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8668512" y="372160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5349240" y="37216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بسلة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4754880" y="37216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-33.1%</a:t>
            </a:r>
            <a:endParaRPr lang="en-US" sz="1400" dirty="0"/>
          </a:p>
        </p:txBody>
      </p:sp>
      <p:sp>
        <p:nvSpPr>
          <p:cNvPr id="51" name="Shape 47"/>
          <p:cNvSpPr/>
          <p:nvPr/>
        </p:nvSpPr>
        <p:spPr>
          <a:xfrm>
            <a:off x="4663440" y="4206240"/>
            <a:ext cx="416052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8668512" y="425196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53" name="Text 49"/>
          <p:cNvSpPr/>
          <p:nvPr/>
        </p:nvSpPr>
        <p:spPr>
          <a:xfrm>
            <a:off x="5349240" y="4251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فاصوليا جافة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4754880" y="42519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-28.4%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3 — التحليل الربعي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Price Analysis Q1–Q4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التحليلي: كيف تتغير أسعار الغذاء عبر الأرباع الأربعة للسنة؟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508760"/>
          <a:ext cx="56692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50876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2651760" cy="64008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03920" y="16002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63640" y="158191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الأول (يناير–مارس)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63640" y="1856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56.3 جنيه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22860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72200" y="228600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03920" y="2377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63640" y="23591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الثاني (أبريل–يونيو)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57.4 جنيه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200" y="30632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72200" y="3063240"/>
            <a:ext cx="265176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503920" y="31546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263640" y="31363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الثالث (يوليو–سبتمبر)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34107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56.4 جنيه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72200" y="38404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172200" y="3840480"/>
            <a:ext cx="265176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503920" y="39319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263640" y="39136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الرابع (أكتوبر–ديسمبر)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63640" y="41879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 جنيه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4 — استقرار الأسعار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Stability Classification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التحليلي: كم عدد المنتجات المستقرة والمتوسطة والمرتفعة التغير في الأسعار؟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50876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5087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416052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0" y="16184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مستقر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تغير &lt; 5%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32899" y="178835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منتج (54%)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نصف المنتجات شهدت تغيراً طفيفاً في الأسعار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5603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63440" y="2560320"/>
            <a:ext cx="41605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88923" y="2670048"/>
            <a:ext cx="6893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75488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تغير 5–20%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15316" y="285310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منتج (19%)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ربع المنتجات في نطاق التذبذب المقبول اقتصادياً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17720" y="3595175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0" y="3611880"/>
            <a:ext cx="4160520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119696" y="3721608"/>
            <a:ext cx="658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مرتفع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7548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تغير &gt; 20%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724107" y="3904667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منتج (27%)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5488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ربع المنتجات سجلت ارتفاعاً ملحوظاً يستدعي المراقبة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Power BI — لوحة البيانات التفاعلية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Interactive Dashboard Phase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914400"/>
          </a:xfrm>
          <a:prstGeom prst="rect">
            <a:avLst/>
          </a:prstGeom>
          <a:solidFill>
            <a:srgbClr val="1B2B5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32004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يرفع مستوى التحليل من جداول ثابتة إلى لوحة بيانات تفاعلية احترافية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تتيح لأي مستخدم — بدون خلفية تقنية — استكشاف البيانات بسهولة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2743200" cy="73152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404872"/>
            <a:ext cx="502920" cy="502920"/>
          </a:xfrm>
          <a:prstGeom prst="ellipse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478024"/>
            <a:ext cx="356616" cy="3566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2331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مؤشرات رئيسية تعرض إجمالي المنتجات والمتوسطات والتغيرات بلمحة واحدة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27832" y="2240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27832" y="224028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319272" y="240487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2478024"/>
            <a:ext cx="356616" cy="3566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13632" y="2331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&amp; Column Charts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319272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مخططات أعمدة لتصور التضخم حسب المجموعة الغذائية ومرحلة التسعير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35624" y="2240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135624" y="224028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227064" y="240487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2478024"/>
            <a:ext cx="356616" cy="35661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21424" y="23317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227064" y="2898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خطوط اتجاه ربعية تكشف الأنماط الموسمية عبر Q1 إلى Q4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20040" y="3703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320040" y="3703320"/>
            <a:ext cx="27432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11480" y="386791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941064"/>
            <a:ext cx="356616" cy="35661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05840" y="3794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411480" y="4361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مرشحات تفاعلية للتصفية حسب Stage وProduct Group في ثوانٍ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3227832" y="3703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3227832" y="3703320"/>
            <a:ext cx="2743200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3319272" y="3867912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3941064"/>
            <a:ext cx="356616" cy="35661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913632" y="3794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Charts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3319272" y="4361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مخططات دائرية لتوزيع المنتجات حسب استقرار السعر والتصنيف الموسمي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6135624" y="3703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135624" y="370332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6227064" y="386791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941064"/>
            <a:ext cx="356616" cy="35661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821424" y="3794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227064" y="4361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مقاييس DAX محسوبة لنسب التغير ومتوسطات الفئات والمقارنات الزمنية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لوحة Power BI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Layout &amp; Design Mockup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8503920" cy="50292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97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 Food Prices 2025  |  تحليل أسعار الغذاء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85039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673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691640"/>
            <a:ext cx="777240" cy="23774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16916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65960" y="1691640"/>
            <a:ext cx="777240" cy="2377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65960" y="16916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جملة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1691640"/>
            <a:ext cx="777240" cy="2377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834640" y="16916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3320" y="1691640"/>
            <a:ext cx="777240" cy="2377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03320" y="16916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Group: الخضر والفاكهة  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30552"/>
            <a:ext cx="1636776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130552"/>
            <a:ext cx="1636776" cy="64008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19456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" y="253288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48256" y="2130552"/>
            <a:ext cx="1636776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048256" y="2130552"/>
            <a:ext cx="1636776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48256" y="219456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048256" y="253288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التغير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30752" y="2130552"/>
            <a:ext cx="1636776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730752" y="2130552"/>
            <a:ext cx="1636776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30752" y="219456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117.7%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730752" y="253288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تغير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13248" y="2130552"/>
            <a:ext cx="1636776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13248" y="2130552"/>
            <a:ext cx="1636776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13248" y="219456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─49.9%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13248" y="253288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أقل تغير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95744" y="2130552"/>
            <a:ext cx="1636776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95744" y="2130552"/>
            <a:ext cx="1636776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095744" y="219456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95744" y="253288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مجموعات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2862072"/>
            <a:ext cx="5120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التغير % حسب المجموعة الغذائية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8488" y="307396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خضر وفاكهة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504368" y="3101398"/>
            <a:ext cx="3769157" cy="1554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52237" y="3227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78488" y="332999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طيور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504368" y="3357430"/>
            <a:ext cx="1613002" cy="1554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163090" y="332999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78488" y="358603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أسماك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504368" y="3613462"/>
            <a:ext cx="1053389" cy="1554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603477" y="358603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78488" y="384206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بقالة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504368" y="3869494"/>
            <a:ext cx="378562" cy="1554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928650" y="384206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78488" y="409809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لحوم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504368" y="4125526"/>
            <a:ext cx="246888" cy="1554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796976" y="409809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78488" y="435412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ألبان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504368" y="4381558"/>
            <a:ext cx="45720" cy="1554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595808" y="435412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-0.1%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78488" y="461015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حبوب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504368" y="4637590"/>
            <a:ext cx="740664" cy="1554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290752" y="461015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-4.5%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532120" y="2862072"/>
            <a:ext cx="3246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577840" y="2880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المنتجات تغيراً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532120" y="3200400"/>
            <a:ext cx="3246120" cy="3840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577840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برتقال بلدي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053754" y="32278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+117.7%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532120" y="3611880"/>
            <a:ext cx="32461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57784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برتقال صيفي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053754" y="36393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+96.2%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32120" y="4023360"/>
            <a:ext cx="3246120" cy="3840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57784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بلح زغلول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053754" y="40507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+84%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532120" y="4434840"/>
            <a:ext cx="32461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577840" y="4462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مشمش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053754" y="44622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+70.2%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الرؤى والتحليلات الرئيسية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from the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74320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97480" y="1261872"/>
            <a:ext cx="292608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9748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280160"/>
            <a:ext cx="438912" cy="438912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35331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تضخم — الخضر والفاكهة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2037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ارتفاع 22.9% مدفوعاً بارتفاعات قياسية في البرتقال (+117.7%) والبلح والمانجو الموسمية.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27832" y="1170432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27832" y="1170432"/>
            <a:ext cx="274320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05272" y="1261872"/>
            <a:ext cx="292608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60527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19272" y="1280160"/>
            <a:ext cx="438912" cy="438912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35331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19272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استقراراً — الألبان ومنتجاتها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19272" y="22037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تغير ضئيل (-0.1%) مما يعني استقرار لافتاً في المنتجات الحيوانية المصنعة.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135624" y="1170432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135624" y="1170432"/>
            <a:ext cx="2743200" cy="64008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513064" y="1261872"/>
            <a:ext cx="292608" cy="292608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8513064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227064" y="1280160"/>
            <a:ext cx="438912" cy="438912"/>
          </a:xfrm>
          <a:prstGeom prst="ellipse">
            <a:avLst/>
          </a:prstGeom>
          <a:solidFill>
            <a:srgbClr val="1B2B5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353312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27064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الجملة تقود الارتفاعات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27064" y="220370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الجملة سجلت أعلى متوسط تغير (21.8%) متجاوزةً الريف (14.4%) والحضر (13.3%).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20040" y="3044952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320040" y="3044952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2697480" y="3136392"/>
            <a:ext cx="292608" cy="2926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269748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11480" y="3154680"/>
            <a:ext cx="438912" cy="438912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227832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11480" y="3639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تذبذب موسمي واضح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11480" y="40782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هو الأعلى في المتوسط السعري. المنتجات الموسمية (Seasonal) تُظهر تبايناً حاداً بين الأرباع.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227832" y="3044952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3227832" y="3044952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5605272" y="3136392"/>
            <a:ext cx="292608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5605272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319272" y="3154680"/>
            <a:ext cx="438912" cy="438912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3227832"/>
            <a:ext cx="292608" cy="29260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319272" y="3639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الحبوب والبقول — ضغط خاص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3319272" y="40782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رغم انخفاض بعض أسعار الحبوب (-4.5%)، إلا أن القمح ارتفع +9.5% وهو مؤشر مهم للأمن الغذائي.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6135624" y="3044952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6135624" y="3044952"/>
            <a:ext cx="274320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8513064" y="3136392"/>
            <a:ext cx="292608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/>
          <p:nvPr/>
        </p:nvSpPr>
        <p:spPr>
          <a:xfrm>
            <a:off x="8513064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6227064" y="3154680"/>
            <a:ext cx="438912" cy="438912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227832"/>
            <a:ext cx="292608" cy="29260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227064" y="3639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 من المنتجات بتغير مرتفع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6227064" y="40782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ربع المنتجات (26 منتجاً) سجلت ارتفاعاً يتجاوز 20%، وهو ما يستوجب متابعة دورية.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الأدوات المستخدمة في المشروع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A5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 Used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64008" cy="1143000"/>
          </a:xfrm>
          <a:prstGeom prst="rect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72184"/>
            <a:ext cx="530352" cy="530352"/>
          </a:xfrm>
          <a:prstGeom prst="ellipse">
            <a:avLst/>
          </a:prstGeom>
          <a:solidFill>
            <a:srgbClr val="1B2B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4533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CAPMAS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9848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البيانات الرسمي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27832" y="117043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27832" y="1170432"/>
            <a:ext cx="64008" cy="1143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64992" y="1472184"/>
            <a:ext cx="530352" cy="53035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15453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97764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الصيغة الأصلية للبيانات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35624" y="117043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35624" y="1170432"/>
            <a:ext cx="64008" cy="1143000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272784" y="1472184"/>
            <a:ext cx="530352" cy="530352"/>
          </a:xfrm>
          <a:prstGeom prst="ellipse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54533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85432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885432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 الأولي والجداول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245059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20040" y="2450592"/>
            <a:ext cx="64008" cy="1143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57200" y="2752344"/>
            <a:ext cx="530352" cy="530352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282549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69848" y="2542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069848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البيانات تلقائياً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27832" y="245059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227832" y="2450592"/>
            <a:ext cx="64008" cy="1143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3364992" y="2752344"/>
            <a:ext cx="530352" cy="53035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2825496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77640" y="2542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397764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التنظيف المتقدم والأتمتة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135624" y="245059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135624" y="2450592"/>
            <a:ext cx="64008" cy="1143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6272784" y="2752344"/>
            <a:ext cx="530352" cy="5303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2825496"/>
            <a:ext cx="384048" cy="38404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85432" y="2542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Tables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6885432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الاستكشاف التحليلي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320040" y="373075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320040" y="3730752"/>
            <a:ext cx="64008" cy="114300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457200" y="4032504"/>
            <a:ext cx="530352" cy="530352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4105656"/>
            <a:ext cx="384048" cy="38404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069848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600" dirty="0"/>
          </a:p>
        </p:txBody>
      </p:sp>
      <p:sp>
        <p:nvSpPr>
          <p:cNvPr id="47" name="Text 38"/>
          <p:cNvSpPr/>
          <p:nvPr/>
        </p:nvSpPr>
        <p:spPr>
          <a:xfrm>
            <a:off x="1069848" y="4297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البيانات التفاعلية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3227832" y="373075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3227832" y="3730752"/>
            <a:ext cx="64008" cy="1143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1"/>
          <p:cNvSpPr/>
          <p:nvPr/>
        </p:nvSpPr>
        <p:spPr>
          <a:xfrm>
            <a:off x="3364992" y="4032504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8144" y="4105656"/>
            <a:ext cx="384048" cy="38404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397764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</a:t>
            </a:r>
            <a:endParaRPr lang="en-US" sz="1600" dirty="0"/>
          </a:p>
        </p:txBody>
      </p:sp>
      <p:sp>
        <p:nvSpPr>
          <p:cNvPr id="53" name="Text 43"/>
          <p:cNvSpPr/>
          <p:nvPr/>
        </p:nvSpPr>
        <p:spPr>
          <a:xfrm>
            <a:off x="3977640" y="4297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مقاييس ومؤشرات محسوبة</a:t>
            </a:r>
            <a:endParaRPr lang="en-US" sz="1100" dirty="0"/>
          </a:p>
        </p:txBody>
      </p:sp>
      <p:sp>
        <p:nvSpPr>
          <p:cNvPr id="54" name="Shape 44"/>
          <p:cNvSpPr/>
          <p:nvPr/>
        </p:nvSpPr>
        <p:spPr>
          <a:xfrm>
            <a:off x="6135624" y="3730752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1B2B5E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5"/>
          <p:cNvSpPr/>
          <p:nvPr/>
        </p:nvSpPr>
        <p:spPr>
          <a:xfrm>
            <a:off x="6135624" y="3730752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6"/>
          <p:cNvSpPr/>
          <p:nvPr/>
        </p:nvSpPr>
        <p:spPr>
          <a:xfrm>
            <a:off x="6272784" y="4032504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5936" y="4105656"/>
            <a:ext cx="384048" cy="384048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6885432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</a:t>
            </a:r>
            <a:endParaRPr lang="en-US" sz="1600" dirty="0"/>
          </a:p>
        </p:txBody>
      </p:sp>
      <p:sp>
        <p:nvSpPr>
          <p:cNvPr id="59" name="Text 48"/>
          <p:cNvSpPr/>
          <p:nvPr/>
        </p:nvSpPr>
        <p:spPr>
          <a:xfrm>
            <a:off x="6885432" y="4297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تصفية تفاعلية للمستخدم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1298448"/>
            <a:ext cx="82296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13648" y="148132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تحوّلت بيانات PDF الرسمية إلى مجموعة بيانات نظيفة تحوي 657 سجلاً بـ 13 عموداً تحليلياً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13648" y="213969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بُنيت لوحتا تحليل: Excel Pivot Tables لاستكشاف البيانات و Power BI للعرض الاحترافي التفاعلي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3648" y="279806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761488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الرؤى المستخرجة مفيدة للطلاب والمحللين وصانعي القرار والمستهلك المصري العادي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13648" y="345643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419856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المشروع يُطبّق منهجية تحليل البيانات الكاملة: من جمع البيانات إلى التنظيف إلى التصور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82296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Raw Data to Clear Insights"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2221</Words>
  <Application>Microsoft Office PowerPoint</Application>
  <PresentationFormat>On-screen Show (16:9)</PresentationFormat>
  <Paragraphs>422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تحليل أسعار الغذاء في مصر 2025</dc:title>
  <dc:subject>PptxGenJS Presentation</dc:subject>
  <dc:creator>Data Analytics Project</dc:creator>
  <cp:lastModifiedBy>Yousef Mostafa Abd-elFatah Abd-elLatef</cp:lastModifiedBy>
  <cp:revision>3</cp:revision>
  <dcterms:created xsi:type="dcterms:W3CDTF">2026-05-22T11:35:57Z</dcterms:created>
  <dcterms:modified xsi:type="dcterms:W3CDTF">2026-05-22T11:44:03Z</dcterms:modified>
</cp:coreProperties>
</file>